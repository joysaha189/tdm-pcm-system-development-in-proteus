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1" r:id="rId3"/>
    <p:sldId id="296" r:id="rId4"/>
    <p:sldId id="322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4" r:id="rId14"/>
    <p:sldId id="331" r:id="rId15"/>
    <p:sldId id="332" r:id="rId16"/>
    <p:sldId id="333" r:id="rId17"/>
    <p:sldId id="335" r:id="rId18"/>
    <p:sldId id="336" r:id="rId19"/>
    <p:sldId id="2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A1A0"/>
    <a:srgbClr val="19A1A1"/>
    <a:srgbClr val="004974"/>
    <a:srgbClr val="F93A35"/>
    <a:srgbClr val="F3C3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452EE-7D80-4BFD-B6DA-A6273587F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8B99FD-3717-4A83-A8CE-31ABC7931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8F5CB-4506-4535-A28B-17E8F01AB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E20D0-EBD4-4FE1-8649-F16743BD090D}" type="datetimeFigureOut">
              <a:rPr lang="en-US" smtClean="0"/>
              <a:t>25-Jul-21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5C04A-87AB-48EB-B345-E52E102CE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A06BD-4CB9-43D0-BABF-98D509DB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8157-764C-4934-8982-BABB663FF6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1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F0B49-073D-4809-AADE-E76C3992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4E3EA-FDA5-470C-A16D-A151CAFC5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79383-2474-4904-AA95-2D1A61750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E20D0-EBD4-4FE1-8649-F16743BD090D}" type="datetimeFigureOut">
              <a:rPr lang="en-US" smtClean="0"/>
              <a:t>25-Jul-21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7DF80-C7D0-4F4E-AAEA-DD40A796B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7EA83-5A65-4E59-B046-AA4D254F9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8157-764C-4934-8982-BABB663FF6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141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7F7B0-471B-436F-B8B1-FAA49598D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935A5-A6D0-43D7-97A1-29C050EED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82A41-DF99-4E59-9899-41E7F29AD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E20D0-EBD4-4FE1-8649-F16743BD090D}" type="datetimeFigureOut">
              <a:rPr lang="en-US" smtClean="0"/>
              <a:t>25-Jul-21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9D351-AB10-4A11-8AF2-8CC843309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FCDAF-6C52-4747-BF47-02D63D2FE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8157-764C-4934-8982-BABB663FF6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4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118BE-8CD2-4472-A195-15C27B8B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E4D7F-A6D1-4A9B-9A3E-C09752775F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A5AD0-6D87-4C01-B110-96B3683FE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489C0-F521-46D3-BC71-30AEC2CC4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E20D0-EBD4-4FE1-8649-F16743BD090D}" type="datetimeFigureOut">
              <a:rPr lang="en-US" smtClean="0"/>
              <a:t>25-Jul-21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D8CE3-14A6-40FB-83BE-B24AE799B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9C64B-4DB6-466F-820E-E5BB6C6EB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8157-764C-4934-8982-BABB663FF6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238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0BAF0-BCFB-4669-8B90-50BA5DA3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EA904-9F55-4D03-9D12-F51C1E02D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60099-1C1F-4CFC-BC92-0ACB65FFF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B4A678-FF5C-40DE-AD70-F593BC359E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6E8081-1D3E-4CC7-BE62-38238DF0C1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8DC5DB-7796-4D11-88ED-36755CE93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E20D0-EBD4-4FE1-8649-F16743BD090D}" type="datetimeFigureOut">
              <a:rPr lang="en-US" smtClean="0"/>
              <a:t>25-Jul-21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4167F5-3C2E-4B56-9303-7DEF56B1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2ED5C2-A010-4B7D-8014-8F6AFB72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8157-764C-4934-8982-BABB663FF6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662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E3FC9-9E69-462C-8194-DCC611D27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7ADF56-F0AE-4F50-B701-0665A4EF9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E20D0-EBD4-4FE1-8649-F16743BD090D}" type="datetimeFigureOut">
              <a:rPr lang="en-US" smtClean="0"/>
              <a:t>25-Jul-21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0BC352-5657-4833-963D-A9643BB93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BF8940-814C-4929-9087-6FE40668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8157-764C-4934-8982-BABB663FF6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576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8E1F38-C367-4391-90B5-CD1DA5B6F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E20D0-EBD4-4FE1-8649-F16743BD090D}" type="datetimeFigureOut">
              <a:rPr lang="en-US" smtClean="0"/>
              <a:t>25-Jul-21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EC615A-A97E-4068-922D-ED3E6AAD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EDDF1-5A92-4630-8DCD-E22D8652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8157-764C-4934-8982-BABB663FF6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161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D5DEF-D4A0-485B-BEB3-CB75F834B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51BA2-4A5C-40AB-AC59-6DC07A6DB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59BA31-338A-4FB6-A946-227E22E10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CD5A3-6BAA-4562-893B-BAAA5DD1A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E20D0-EBD4-4FE1-8649-F16743BD090D}" type="datetimeFigureOut">
              <a:rPr lang="en-US" smtClean="0"/>
              <a:t>25-Jul-21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64641-25AE-4B46-849F-1726785F7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E4495-6D4D-4001-A69C-C64C073C5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8157-764C-4934-8982-BABB663FF6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680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B5B00-0B61-444D-952A-DD4349604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4D022E-2F55-4B7B-BDCE-B24D4F7BED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8AB928-5C34-4706-A3F0-613ABBFA1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22A550-8256-4B75-B0D0-3DEA593D3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E20D0-EBD4-4FE1-8649-F16743BD090D}" type="datetimeFigureOut">
              <a:rPr lang="en-US" smtClean="0"/>
              <a:t>25-Jul-21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00C28-DE94-44A6-B9D5-665899843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7CAEA-FCEF-48B8-97EF-FCB7EEC1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8157-764C-4934-8982-BABB663FF6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932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1AC92-BC21-4304-8221-A9868C9C2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C9984-EDB8-444C-8917-7518F5049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6DAE5-B182-4F71-8F7F-025CB117B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E20D0-EBD4-4FE1-8649-F16743BD090D}" type="datetimeFigureOut">
              <a:rPr lang="en-US" smtClean="0"/>
              <a:t>25-Jul-21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71613-76DD-48DF-8CE2-13778CC53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AC8A0-F3C4-46ED-B111-A2CD526B9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8157-764C-4934-8982-BABB663FF6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076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7699B5-AA9F-448B-BC53-1197DFEC27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9066B0-FC82-4ECC-83C4-8ED5EA8E3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3276F-BAE6-4333-BA95-86EDF69F5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E20D0-EBD4-4FE1-8649-F16743BD090D}" type="datetimeFigureOut">
              <a:rPr lang="en-US" smtClean="0"/>
              <a:t>25-Jul-21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3C1DC-6BAC-42EF-9A75-AEE8BA3A5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B086C-B993-441A-B3CA-08FE1D3E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8157-764C-4934-8982-BABB663FF6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901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7381" y="86954"/>
            <a:ext cx="10657184" cy="796908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500" b="1" kern="1200" baseline="0" dirty="0">
                <a:solidFill>
                  <a:srgbClr val="18999F"/>
                </a:solidFill>
                <a:effectLst/>
                <a:latin typeface="+mj-lt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2021-07-25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515697" y="1268760"/>
            <a:ext cx="10679548" cy="5112568"/>
          </a:xfrm>
        </p:spPr>
        <p:txBody>
          <a:bodyPr>
            <a:normAutofit/>
          </a:bodyPr>
          <a:lstStyle>
            <a:lvl1pPr algn="l">
              <a:buNone/>
              <a:defRPr sz="1600" i="1" baseline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</a:defRPr>
            </a:lvl1pPr>
            <a:lvl2pPr algn="l">
              <a:buNone/>
              <a:defRPr sz="1600" i="1" baseline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</a:defRPr>
            </a:lvl2pPr>
            <a:lvl3pPr algn="l">
              <a:buNone/>
              <a:defRPr sz="1600" i="1" baseline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</a:defRPr>
            </a:lvl3pPr>
            <a:lvl4pPr algn="l">
              <a:buNone/>
              <a:defRPr sz="1600" i="1" baseline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</a:defRPr>
            </a:lvl4pPr>
            <a:lvl5pPr algn="l">
              <a:buNone/>
              <a:defRPr sz="1600" i="1" baseline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8371851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" y="6500835"/>
            <a:ext cx="2844800" cy="220641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2021-07-25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600" y="6500835"/>
            <a:ext cx="3860800" cy="220641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500835"/>
            <a:ext cx="2844800" cy="220641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527381" y="86954"/>
            <a:ext cx="10657184" cy="796908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500" b="1" kern="1200" baseline="0" dirty="0">
                <a:solidFill>
                  <a:srgbClr val="0A73AD"/>
                </a:solidFill>
                <a:effectLst/>
                <a:latin typeface="+mj-lt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내용 개체 틀 2"/>
          <p:cNvSpPr>
            <a:spLocks noGrp="1"/>
          </p:cNvSpPr>
          <p:nvPr>
            <p:ph idx="1"/>
          </p:nvPr>
        </p:nvSpPr>
        <p:spPr>
          <a:xfrm>
            <a:off x="515699" y="1268760"/>
            <a:ext cx="10679547" cy="5112568"/>
          </a:xfrm>
        </p:spPr>
        <p:txBody>
          <a:bodyPr>
            <a:normAutofit/>
          </a:bodyPr>
          <a:lstStyle>
            <a:lvl1pPr algn="l">
              <a:buNone/>
              <a:defRPr sz="1600" i="1" baseline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</a:defRPr>
            </a:lvl1pPr>
            <a:lvl2pPr algn="l">
              <a:buNone/>
              <a:defRPr sz="1600" i="1" baseline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</a:defRPr>
            </a:lvl2pPr>
            <a:lvl3pPr algn="l">
              <a:buNone/>
              <a:defRPr sz="1600" i="1" baseline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</a:defRPr>
            </a:lvl3pPr>
            <a:lvl4pPr algn="l">
              <a:buNone/>
              <a:defRPr sz="1600" i="1" baseline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</a:defRPr>
            </a:lvl4pPr>
            <a:lvl5pPr algn="l">
              <a:buNone/>
              <a:defRPr sz="1600" i="1" baseline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899062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7B145B-F34C-4BE9-8319-71C482636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88D7A-7A94-4546-AE5C-0013B817F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478D6-D669-481F-9E13-967C781751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E20D0-EBD4-4FE1-8649-F16743BD090D}" type="datetimeFigureOut">
              <a:rPr lang="en-US" smtClean="0"/>
              <a:t>25-Jul-21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009DA-90AF-476C-BE54-340977296A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6136F-5143-4A4B-A46B-CB766B5C3A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98157-764C-4934-8982-BABB663FF6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981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lecommunication Networks - Dominion">
            <a:extLst>
              <a:ext uri="{FF2B5EF4-FFF2-40B4-BE49-F238E27FC236}">
                <a16:creationId xmlns:a16="http://schemas.microsoft.com/office/drawing/2014/main" id="{B87B8D36-F3D6-4015-89BA-026A7F04C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174BC29-3FA4-4B2E-992D-8C19EC500FA0}"/>
              </a:ext>
            </a:extLst>
          </p:cNvPr>
          <p:cNvSpPr/>
          <p:nvPr/>
        </p:nvSpPr>
        <p:spPr>
          <a:xfrm>
            <a:off x="7388860" y="1"/>
            <a:ext cx="480314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1000"/>
                </a:schemeClr>
              </a:gs>
              <a:gs pos="100000">
                <a:srgbClr val="004974">
                  <a:alpha val="38000"/>
                </a:srgb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537285-DB8B-470F-B6B8-62DBB790D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20879" y="1005682"/>
            <a:ext cx="4315522" cy="2387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latin typeface="Bahnschrift SemiBold SemiConden" panose="020B0502040204020203" pitchFamily="34" charset="0"/>
              </a:rPr>
              <a:t>TDM - PCM </a:t>
            </a:r>
            <a:br>
              <a:rPr lang="en-US" dirty="0">
                <a:solidFill>
                  <a:srgbClr val="FFFF00"/>
                </a:solidFill>
                <a:latin typeface="Bahnschrift SemiBold SemiConden" panose="020B0502040204020203" pitchFamily="34" charset="0"/>
              </a:rPr>
            </a:br>
            <a:r>
              <a:rPr lang="en-US" dirty="0">
                <a:solidFill>
                  <a:srgbClr val="FFFF00"/>
                </a:solidFill>
                <a:latin typeface="Bahnschrift SemiBold SemiConden" panose="020B0502040204020203" pitchFamily="34" charset="0"/>
              </a:rPr>
              <a:t>System</a:t>
            </a:r>
            <a:br>
              <a:rPr lang="en-US" dirty="0">
                <a:solidFill>
                  <a:srgbClr val="FFFF00"/>
                </a:solidFill>
                <a:latin typeface="Bahnschrift Condensed" panose="020B0502040204020203" pitchFamily="34" charset="0"/>
              </a:rPr>
            </a:br>
            <a:r>
              <a:rPr lang="en-US" sz="3600" dirty="0">
                <a:solidFill>
                  <a:srgbClr val="FFFF00"/>
                </a:solidFill>
                <a:latin typeface="Bahnschrift Condensed" panose="020B0502040204020203" pitchFamily="34" charset="0"/>
              </a:rPr>
              <a:t>(In Proteus)</a:t>
            </a:r>
            <a:endParaRPr lang="en-US" dirty="0">
              <a:solidFill>
                <a:srgbClr val="FFFF0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2104E6-388C-4AF4-9ACF-95CCF2FFAB92}"/>
              </a:ext>
            </a:extLst>
          </p:cNvPr>
          <p:cNvSpPr txBox="1"/>
          <p:nvPr/>
        </p:nvSpPr>
        <p:spPr>
          <a:xfrm>
            <a:off x="7092950" y="3626345"/>
            <a:ext cx="539496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  <a:latin typeface="Bahnschrift Condensed" panose="020B0502040204020203" pitchFamily="34" charset="0"/>
              </a:rPr>
              <a:t>Group 13</a:t>
            </a:r>
          </a:p>
          <a:p>
            <a:pPr algn="ctr"/>
            <a:r>
              <a:rPr lang="en-US" sz="2800" dirty="0">
                <a:solidFill>
                  <a:srgbClr val="FFFF00"/>
                </a:solidFill>
                <a:latin typeface="Bahnschrift Condensed" panose="020B0502040204020203" pitchFamily="34" charset="0"/>
              </a:rPr>
              <a:t>1706149</a:t>
            </a:r>
          </a:p>
          <a:p>
            <a:pPr algn="ctr"/>
            <a:r>
              <a:rPr lang="en-US" sz="2800" dirty="0">
                <a:solidFill>
                  <a:srgbClr val="FFFF00"/>
                </a:solidFill>
                <a:latin typeface="Bahnschrift Condensed" panose="020B0502040204020203" pitchFamily="34" charset="0"/>
              </a:rPr>
              <a:t>1706150</a:t>
            </a:r>
          </a:p>
          <a:p>
            <a:pPr algn="ctr"/>
            <a:r>
              <a:rPr lang="en-US" sz="2800" dirty="0">
                <a:solidFill>
                  <a:srgbClr val="FFFF00"/>
                </a:solidFill>
                <a:latin typeface="Bahnschrift Condensed" panose="020B0502040204020203" pitchFamily="34" charset="0"/>
              </a:rPr>
              <a:t>1706152</a:t>
            </a:r>
          </a:p>
          <a:p>
            <a:pPr algn="ctr"/>
            <a:r>
              <a:rPr lang="en-US" sz="2800" dirty="0">
                <a:solidFill>
                  <a:srgbClr val="FFFF00"/>
                </a:solidFill>
                <a:latin typeface="Bahnschrift Condensed" panose="020B0502040204020203" pitchFamily="34" charset="0"/>
              </a:rPr>
              <a:t>1706189</a:t>
            </a:r>
          </a:p>
          <a:p>
            <a:pPr algn="ctr"/>
            <a:endParaRPr lang="en-US" sz="5400" dirty="0">
              <a:solidFill>
                <a:srgbClr val="FFFF00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080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2AEEA85A-642D-4631-BF6E-53E86FB60ED0}"/>
              </a:ext>
            </a:extLst>
          </p:cNvPr>
          <p:cNvSpPr/>
          <p:nvPr/>
        </p:nvSpPr>
        <p:spPr>
          <a:xfrm>
            <a:off x="1722270" y="1324006"/>
            <a:ext cx="1580225" cy="1518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A47F18B-3312-4B8B-8611-B4C73AA0F847}"/>
              </a:ext>
            </a:extLst>
          </p:cNvPr>
          <p:cNvSpPr/>
          <p:nvPr/>
        </p:nvSpPr>
        <p:spPr>
          <a:xfrm>
            <a:off x="4447715" y="1349900"/>
            <a:ext cx="1580225" cy="1518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F1CFE79-87B8-4E9D-8C4C-4AAD75314AF3}"/>
              </a:ext>
            </a:extLst>
          </p:cNvPr>
          <p:cNvSpPr/>
          <p:nvPr/>
        </p:nvSpPr>
        <p:spPr>
          <a:xfrm>
            <a:off x="10511160" y="2673927"/>
            <a:ext cx="1580225" cy="1518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71F3515-468C-4E96-B952-8AA7A416447F}"/>
              </a:ext>
            </a:extLst>
          </p:cNvPr>
          <p:cNvSpPr/>
          <p:nvPr/>
        </p:nvSpPr>
        <p:spPr>
          <a:xfrm>
            <a:off x="5982810" y="5068032"/>
            <a:ext cx="1580225" cy="1518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2DAFBC-1258-4F1E-9D29-FF91C4F3FD2A}"/>
              </a:ext>
            </a:extLst>
          </p:cNvPr>
          <p:cNvSpPr/>
          <p:nvPr/>
        </p:nvSpPr>
        <p:spPr>
          <a:xfrm>
            <a:off x="3769957" y="5133693"/>
            <a:ext cx="1580225" cy="1518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D3B2A3-6E6E-45F8-BA2F-D1F1440FA5AE}"/>
              </a:ext>
            </a:extLst>
          </p:cNvPr>
          <p:cNvSpPr/>
          <p:nvPr/>
        </p:nvSpPr>
        <p:spPr>
          <a:xfrm>
            <a:off x="1647457" y="5133693"/>
            <a:ext cx="1580225" cy="1518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D956F11-995E-486B-A40B-EADA620A48BE}"/>
              </a:ext>
            </a:extLst>
          </p:cNvPr>
          <p:cNvCxnSpPr/>
          <p:nvPr/>
        </p:nvCxnSpPr>
        <p:spPr>
          <a:xfrm>
            <a:off x="577050" y="1734599"/>
            <a:ext cx="114522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1F0203A-3B19-4C4C-AD13-A403C37A9A7F}"/>
              </a:ext>
            </a:extLst>
          </p:cNvPr>
          <p:cNvCxnSpPr/>
          <p:nvPr/>
        </p:nvCxnSpPr>
        <p:spPr>
          <a:xfrm>
            <a:off x="577050" y="2108941"/>
            <a:ext cx="114522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AA9009A-A051-407F-BD84-ECDCFB7D1753}"/>
              </a:ext>
            </a:extLst>
          </p:cNvPr>
          <p:cNvCxnSpPr/>
          <p:nvPr/>
        </p:nvCxnSpPr>
        <p:spPr>
          <a:xfrm>
            <a:off x="553376" y="2438894"/>
            <a:ext cx="114522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425213D-9034-4DBB-BDF4-4EE44495576D}"/>
              </a:ext>
            </a:extLst>
          </p:cNvPr>
          <p:cNvSpPr txBox="1"/>
          <p:nvPr/>
        </p:nvSpPr>
        <p:spPr>
          <a:xfrm>
            <a:off x="193830" y="957551"/>
            <a:ext cx="1864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3 channel input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43C8B5-6693-4DEE-AF27-107A96E2A54E}"/>
              </a:ext>
            </a:extLst>
          </p:cNvPr>
          <p:cNvSpPr txBox="1"/>
          <p:nvPr/>
        </p:nvSpPr>
        <p:spPr>
          <a:xfrm>
            <a:off x="1864311" y="1852428"/>
            <a:ext cx="1313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Multiplexer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32DB24-B5A5-41EF-B280-C9BB494F9EF5}"/>
              </a:ext>
            </a:extLst>
          </p:cNvPr>
          <p:cNvSpPr txBox="1"/>
          <p:nvPr/>
        </p:nvSpPr>
        <p:spPr>
          <a:xfrm>
            <a:off x="4580879" y="1610376"/>
            <a:ext cx="1313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Analog To Digital Converter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E6732D-1175-434E-A40D-05CB4F4B471B}"/>
              </a:ext>
            </a:extLst>
          </p:cNvPr>
          <p:cNvSpPr txBox="1"/>
          <p:nvPr/>
        </p:nvSpPr>
        <p:spPr>
          <a:xfrm>
            <a:off x="10573304" y="3009688"/>
            <a:ext cx="1455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Transmission channel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35C2F38-2A63-4D1C-8C8A-70AA91D9D6B9}"/>
              </a:ext>
            </a:extLst>
          </p:cNvPr>
          <p:cNvSpPr txBox="1"/>
          <p:nvPr/>
        </p:nvSpPr>
        <p:spPr>
          <a:xfrm>
            <a:off x="3757658" y="5672398"/>
            <a:ext cx="158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Demultiplexer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6B072FE-3A3E-4738-8D1E-620C1D0B4D05}"/>
              </a:ext>
            </a:extLst>
          </p:cNvPr>
          <p:cNvSpPr txBox="1"/>
          <p:nvPr/>
        </p:nvSpPr>
        <p:spPr>
          <a:xfrm>
            <a:off x="6249140" y="5606736"/>
            <a:ext cx="1313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Decoder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07D2692-057B-4A31-A7BD-8BC3EC9E524F}"/>
              </a:ext>
            </a:extLst>
          </p:cNvPr>
          <p:cNvSpPr txBox="1"/>
          <p:nvPr/>
        </p:nvSpPr>
        <p:spPr>
          <a:xfrm>
            <a:off x="1792920" y="5463646"/>
            <a:ext cx="13138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Low Pass Filter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88EAD45-24BB-4B56-A8BB-4800768CC372}"/>
              </a:ext>
            </a:extLst>
          </p:cNvPr>
          <p:cNvCxnSpPr/>
          <p:nvPr/>
        </p:nvCxnSpPr>
        <p:spPr>
          <a:xfrm>
            <a:off x="3302495" y="1993531"/>
            <a:ext cx="114522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14D281D5-F0CC-4600-AC62-26B1579A88FE}"/>
              </a:ext>
            </a:extLst>
          </p:cNvPr>
          <p:cNvSpPr/>
          <p:nvPr/>
        </p:nvSpPr>
        <p:spPr>
          <a:xfrm>
            <a:off x="7150968" y="1349900"/>
            <a:ext cx="1580225" cy="1518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5F30E10-30A2-4396-90AE-6DB1CE00E6BF}"/>
              </a:ext>
            </a:extLst>
          </p:cNvPr>
          <p:cNvCxnSpPr/>
          <p:nvPr/>
        </p:nvCxnSpPr>
        <p:spPr>
          <a:xfrm>
            <a:off x="6017583" y="2083047"/>
            <a:ext cx="114522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14FA2C3-017F-4114-B806-ECD4DD289673}"/>
              </a:ext>
            </a:extLst>
          </p:cNvPr>
          <p:cNvSpPr txBox="1"/>
          <p:nvPr/>
        </p:nvSpPr>
        <p:spPr>
          <a:xfrm>
            <a:off x="7297447" y="1592685"/>
            <a:ext cx="12487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Parallel to Serial Data converter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DC34D52-8EE9-4B9E-A894-55D9284C900C}"/>
              </a:ext>
            </a:extLst>
          </p:cNvPr>
          <p:cNvCxnSpPr>
            <a:cxnSpLocks/>
          </p:cNvCxnSpPr>
          <p:nvPr/>
        </p:nvCxnSpPr>
        <p:spPr>
          <a:xfrm>
            <a:off x="8748945" y="2229017"/>
            <a:ext cx="1762214" cy="94376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C8DCF05-C6B8-4745-9D0D-E83C4A12D436}"/>
              </a:ext>
            </a:extLst>
          </p:cNvPr>
          <p:cNvCxnSpPr>
            <a:cxnSpLocks/>
          </p:cNvCxnSpPr>
          <p:nvPr/>
        </p:nvCxnSpPr>
        <p:spPr>
          <a:xfrm flipH="1">
            <a:off x="3230825" y="5546040"/>
            <a:ext cx="53626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2F72FDF-5A7F-4BD9-9130-23E5E6BF547F}"/>
              </a:ext>
            </a:extLst>
          </p:cNvPr>
          <p:cNvCxnSpPr>
            <a:cxnSpLocks/>
          </p:cNvCxnSpPr>
          <p:nvPr/>
        </p:nvCxnSpPr>
        <p:spPr>
          <a:xfrm flipH="1">
            <a:off x="9990338" y="4026660"/>
            <a:ext cx="520821" cy="104137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9C094D55-166E-4CDA-A0B0-F0E1822ABDE5}"/>
              </a:ext>
            </a:extLst>
          </p:cNvPr>
          <p:cNvSpPr/>
          <p:nvPr/>
        </p:nvSpPr>
        <p:spPr>
          <a:xfrm>
            <a:off x="8389116" y="4974817"/>
            <a:ext cx="1580225" cy="1518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9098B9-FD2E-4747-BD98-3B0B750420AE}"/>
              </a:ext>
            </a:extLst>
          </p:cNvPr>
          <p:cNvSpPr txBox="1"/>
          <p:nvPr/>
        </p:nvSpPr>
        <p:spPr>
          <a:xfrm>
            <a:off x="8554835" y="5133693"/>
            <a:ext cx="1248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Serial to Parallel Data converter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CCB5F6D-847D-434A-A4FE-0459AC6FBDB8}"/>
              </a:ext>
            </a:extLst>
          </p:cNvPr>
          <p:cNvCxnSpPr>
            <a:cxnSpLocks/>
          </p:cNvCxnSpPr>
          <p:nvPr/>
        </p:nvCxnSpPr>
        <p:spPr>
          <a:xfrm flipH="1">
            <a:off x="7513468" y="5780932"/>
            <a:ext cx="88776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6705E4B-B48B-4BA6-84AE-79A346ADA21B}"/>
              </a:ext>
            </a:extLst>
          </p:cNvPr>
          <p:cNvCxnSpPr>
            <a:cxnSpLocks/>
          </p:cNvCxnSpPr>
          <p:nvPr/>
        </p:nvCxnSpPr>
        <p:spPr>
          <a:xfrm flipH="1">
            <a:off x="5311806" y="5756393"/>
            <a:ext cx="71613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934056E-FA70-46E3-AA27-F3FC61255395}"/>
              </a:ext>
            </a:extLst>
          </p:cNvPr>
          <p:cNvCxnSpPr>
            <a:cxnSpLocks/>
          </p:cNvCxnSpPr>
          <p:nvPr/>
        </p:nvCxnSpPr>
        <p:spPr>
          <a:xfrm flipH="1">
            <a:off x="3230825" y="5865346"/>
            <a:ext cx="53700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DE4CEE6-CA5B-4995-A823-2DCEF3363C90}"/>
              </a:ext>
            </a:extLst>
          </p:cNvPr>
          <p:cNvCxnSpPr>
            <a:cxnSpLocks/>
          </p:cNvCxnSpPr>
          <p:nvPr/>
        </p:nvCxnSpPr>
        <p:spPr>
          <a:xfrm flipH="1" flipV="1">
            <a:off x="3230825" y="6151251"/>
            <a:ext cx="548059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1A5C323-8AC7-41DE-9AED-A91A4617DAB7}"/>
              </a:ext>
            </a:extLst>
          </p:cNvPr>
          <p:cNvCxnSpPr>
            <a:cxnSpLocks/>
          </p:cNvCxnSpPr>
          <p:nvPr/>
        </p:nvCxnSpPr>
        <p:spPr>
          <a:xfrm flipH="1">
            <a:off x="1090195" y="5558051"/>
            <a:ext cx="53626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E74BCDD-DCAC-49C0-8F01-613ABD64D583}"/>
              </a:ext>
            </a:extLst>
          </p:cNvPr>
          <p:cNvCxnSpPr>
            <a:cxnSpLocks/>
          </p:cNvCxnSpPr>
          <p:nvPr/>
        </p:nvCxnSpPr>
        <p:spPr>
          <a:xfrm flipH="1">
            <a:off x="1090195" y="5877357"/>
            <a:ext cx="53700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C23F016-0354-4921-AA26-92C52BE66090}"/>
              </a:ext>
            </a:extLst>
          </p:cNvPr>
          <p:cNvCxnSpPr>
            <a:cxnSpLocks/>
          </p:cNvCxnSpPr>
          <p:nvPr/>
        </p:nvCxnSpPr>
        <p:spPr>
          <a:xfrm flipH="1" flipV="1">
            <a:off x="1090195" y="6163262"/>
            <a:ext cx="548059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D07BA49F-9203-4733-8678-3CA141B43FAD}"/>
              </a:ext>
            </a:extLst>
          </p:cNvPr>
          <p:cNvSpPr txBox="1"/>
          <p:nvPr/>
        </p:nvSpPr>
        <p:spPr>
          <a:xfrm>
            <a:off x="0" y="4674968"/>
            <a:ext cx="2058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3 channel output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FAB066A-AFCC-4FC5-B2DE-BF555E3AB755}"/>
              </a:ext>
            </a:extLst>
          </p:cNvPr>
          <p:cNvSpPr txBox="1"/>
          <p:nvPr/>
        </p:nvSpPr>
        <p:spPr>
          <a:xfrm>
            <a:off x="3891679" y="252177"/>
            <a:ext cx="4408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Agency FB" panose="020B0503020202020204" pitchFamily="34" charset="0"/>
              </a:rPr>
              <a:t>TDM - PCM System Block Diagram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06341" y="169757"/>
            <a:ext cx="3435019" cy="796908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solidFill>
                  <a:schemeClr val="tx1"/>
                </a:solidFill>
                <a:latin typeface="Agency FB" panose="020B0503020202020204" pitchFamily="34" charset="0"/>
              </a:rPr>
              <a:t>Main Circuit</a:t>
            </a:r>
            <a:endParaRPr lang="ko-KR" altLang="en-US" sz="3600" dirty="0">
              <a:solidFill>
                <a:schemeClr val="tx1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Replace with your own text</a:t>
            </a:r>
            <a:endParaRPr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3AC239-1098-417B-8563-6AB737451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2078"/>
            <a:ext cx="12192000" cy="433384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74165E9-0B5D-40DC-B8C0-96DD209615F6}"/>
              </a:ext>
            </a:extLst>
          </p:cNvPr>
          <p:cNvSpPr/>
          <p:nvPr/>
        </p:nvSpPr>
        <p:spPr>
          <a:xfrm>
            <a:off x="1367160" y="3329126"/>
            <a:ext cx="523783" cy="9942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F683AB-EDE5-445B-978A-31E0500F4578}"/>
              </a:ext>
            </a:extLst>
          </p:cNvPr>
          <p:cNvSpPr/>
          <p:nvPr/>
        </p:nvSpPr>
        <p:spPr>
          <a:xfrm>
            <a:off x="2892271" y="2334827"/>
            <a:ext cx="765329" cy="9942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700533-90EF-4FBD-9D16-A7A1E5A67800}"/>
              </a:ext>
            </a:extLst>
          </p:cNvPr>
          <p:cNvSpPr/>
          <p:nvPr/>
        </p:nvSpPr>
        <p:spPr>
          <a:xfrm>
            <a:off x="5291091" y="2434700"/>
            <a:ext cx="523783" cy="9942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3CB0B7-23B5-4F51-8FCE-A858A9700270}"/>
              </a:ext>
            </a:extLst>
          </p:cNvPr>
          <p:cNvSpPr/>
          <p:nvPr/>
        </p:nvSpPr>
        <p:spPr>
          <a:xfrm>
            <a:off x="7057748" y="2718047"/>
            <a:ext cx="577048" cy="8419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2651EE-0630-41E8-AD0B-A47193D4E0B3}"/>
              </a:ext>
            </a:extLst>
          </p:cNvPr>
          <p:cNvSpPr/>
          <p:nvPr/>
        </p:nvSpPr>
        <p:spPr>
          <a:xfrm>
            <a:off x="8134721" y="2641847"/>
            <a:ext cx="1831204" cy="9942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C7D8BC-B504-4F9B-8E9F-EFC9414077D9}"/>
              </a:ext>
            </a:extLst>
          </p:cNvPr>
          <p:cNvSpPr/>
          <p:nvPr/>
        </p:nvSpPr>
        <p:spPr>
          <a:xfrm>
            <a:off x="10083185" y="3329126"/>
            <a:ext cx="507875" cy="8877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7E6376-38F5-4CB4-B993-15826892B73A}"/>
              </a:ext>
            </a:extLst>
          </p:cNvPr>
          <p:cNvSpPr/>
          <p:nvPr/>
        </p:nvSpPr>
        <p:spPr>
          <a:xfrm>
            <a:off x="10708320" y="2814221"/>
            <a:ext cx="1414879" cy="12162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809021-3921-4988-8133-36C5676FEE64}"/>
              </a:ext>
            </a:extLst>
          </p:cNvPr>
          <p:cNvSpPr txBox="1"/>
          <p:nvPr/>
        </p:nvSpPr>
        <p:spPr>
          <a:xfrm>
            <a:off x="2417410" y="5157883"/>
            <a:ext cx="2796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Transmitter Side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ADB0D7-85B1-4A78-A18E-213ED7D932B4}"/>
              </a:ext>
            </a:extLst>
          </p:cNvPr>
          <p:cNvSpPr txBox="1"/>
          <p:nvPr/>
        </p:nvSpPr>
        <p:spPr>
          <a:xfrm>
            <a:off x="8964971" y="5188289"/>
            <a:ext cx="1846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Receiver Side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FA2DA6-E840-4E2F-9F73-FB9081596770}"/>
              </a:ext>
            </a:extLst>
          </p:cNvPr>
          <p:cNvSpPr txBox="1"/>
          <p:nvPr/>
        </p:nvSpPr>
        <p:spPr>
          <a:xfrm>
            <a:off x="1074752" y="4371344"/>
            <a:ext cx="105588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Multiplexer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D2447E-699F-4A99-B7C2-976A8E47F2BE}"/>
              </a:ext>
            </a:extLst>
          </p:cNvPr>
          <p:cNvSpPr txBox="1"/>
          <p:nvPr/>
        </p:nvSpPr>
        <p:spPr>
          <a:xfrm>
            <a:off x="2945538" y="3482257"/>
            <a:ext cx="70965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ADC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BC34B7-DAE8-4920-B678-1B1BBECA2D66}"/>
              </a:ext>
            </a:extLst>
          </p:cNvPr>
          <p:cNvSpPr txBox="1"/>
          <p:nvPr/>
        </p:nvSpPr>
        <p:spPr>
          <a:xfrm>
            <a:off x="5213876" y="3518498"/>
            <a:ext cx="52378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PISO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EC8ECF-D350-4732-902B-30A83E1DAFA2}"/>
              </a:ext>
            </a:extLst>
          </p:cNvPr>
          <p:cNvSpPr txBox="1"/>
          <p:nvPr/>
        </p:nvSpPr>
        <p:spPr>
          <a:xfrm>
            <a:off x="7086787" y="3672386"/>
            <a:ext cx="70965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SIPO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2B11AD-377C-4575-83D7-4D84113E6C1E}"/>
              </a:ext>
            </a:extLst>
          </p:cNvPr>
          <p:cNvSpPr txBox="1"/>
          <p:nvPr/>
        </p:nvSpPr>
        <p:spPr>
          <a:xfrm>
            <a:off x="8647501" y="3739859"/>
            <a:ext cx="70965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DAC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27AEED-D973-4245-BB1A-0A9B9063DB7C}"/>
              </a:ext>
            </a:extLst>
          </p:cNvPr>
          <p:cNvSpPr txBox="1"/>
          <p:nvPr/>
        </p:nvSpPr>
        <p:spPr>
          <a:xfrm>
            <a:off x="9715383" y="4323425"/>
            <a:ext cx="124347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Demultiplexer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DA783E-F45B-4CDF-AFA6-35E629E8748F}"/>
              </a:ext>
            </a:extLst>
          </p:cNvPr>
          <p:cNvSpPr txBox="1"/>
          <p:nvPr/>
        </p:nvSpPr>
        <p:spPr>
          <a:xfrm>
            <a:off x="11527187" y="4063567"/>
            <a:ext cx="4642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LPF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39FC44-BA22-4BC0-BEB7-80488BC1D930}"/>
              </a:ext>
            </a:extLst>
          </p:cNvPr>
          <p:cNvSpPr txBox="1"/>
          <p:nvPr/>
        </p:nvSpPr>
        <p:spPr>
          <a:xfrm>
            <a:off x="5908646" y="2210960"/>
            <a:ext cx="1125613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Transmission</a:t>
            </a:r>
          </a:p>
          <a:p>
            <a:pPr algn="ctr"/>
            <a:r>
              <a:rPr lang="en-US" sz="1100" dirty="0"/>
              <a:t>channel</a:t>
            </a: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217D28E9-2FF6-4A3E-8289-65F92AA99175}"/>
              </a:ext>
            </a:extLst>
          </p:cNvPr>
          <p:cNvSpPr/>
          <p:nvPr/>
        </p:nvSpPr>
        <p:spPr>
          <a:xfrm rot="16200000">
            <a:off x="2915767" y="2112496"/>
            <a:ext cx="464026" cy="5334188"/>
          </a:xfrm>
          <a:prstGeom prst="leftBrace">
            <a:avLst>
              <a:gd name="adj1" fmla="val 8333"/>
              <a:gd name="adj2" fmla="val 5044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5C860C11-9594-4E13-81CC-0109F9E8B7AA}"/>
              </a:ext>
            </a:extLst>
          </p:cNvPr>
          <p:cNvSpPr/>
          <p:nvPr/>
        </p:nvSpPr>
        <p:spPr>
          <a:xfrm rot="16200000">
            <a:off x="9211680" y="2291957"/>
            <a:ext cx="464026" cy="5095558"/>
          </a:xfrm>
          <a:prstGeom prst="leftBrace">
            <a:avLst>
              <a:gd name="adj1" fmla="val 8333"/>
              <a:gd name="adj2" fmla="val 5044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6DEB5-4735-4F0F-A0EE-707D27FC0859}"/>
              </a:ext>
            </a:extLst>
          </p:cNvPr>
          <p:cNvSpPr txBox="1"/>
          <p:nvPr/>
        </p:nvSpPr>
        <p:spPr>
          <a:xfrm>
            <a:off x="1648902" y="2324623"/>
            <a:ext cx="85999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Input is three sinusoidal signals of three different frequency</a:t>
            </a:r>
          </a:p>
          <a:p>
            <a:pPr algn="ctr"/>
            <a:r>
              <a:rPr lang="en-US" sz="2800" dirty="0"/>
              <a:t>Amplitude: Peak to Peak 10 voltage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419FE6-EDF1-4D29-BD7D-3A868C6BD138}"/>
              </a:ext>
            </a:extLst>
          </p:cNvPr>
          <p:cNvSpPr txBox="1"/>
          <p:nvPr/>
        </p:nvSpPr>
        <p:spPr>
          <a:xfrm>
            <a:off x="366710" y="1607195"/>
            <a:ext cx="73951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CD4051 Multiplexer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Take input signal from 3 channels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 Time division multiplexing occurred and generate data through a single channel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Output is Connected directly with ADC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C53F72-5079-47DC-8EA3-86B9F02FC505}"/>
              </a:ext>
            </a:extLst>
          </p:cNvPr>
          <p:cNvSpPr/>
          <p:nvPr/>
        </p:nvSpPr>
        <p:spPr>
          <a:xfrm>
            <a:off x="5004677" y="108482"/>
            <a:ext cx="2401963" cy="785597"/>
          </a:xfrm>
          <a:prstGeom prst="roundRect">
            <a:avLst/>
          </a:prstGeom>
          <a:solidFill>
            <a:srgbClr val="F93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2C9F8F-89B7-45C6-8C27-FE5D7C76EFA5}"/>
              </a:ext>
            </a:extLst>
          </p:cNvPr>
          <p:cNvSpPr txBox="1"/>
          <p:nvPr/>
        </p:nvSpPr>
        <p:spPr>
          <a:xfrm>
            <a:off x="5191110" y="176532"/>
            <a:ext cx="2101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</a:rPr>
              <a:t>Multiplexer</a:t>
            </a:r>
            <a:endParaRPr lang="en-US" sz="2400" b="1" u="sng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61B4D6-338A-4EE0-ADC1-79B52A7EE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415" y="1348898"/>
            <a:ext cx="3443296" cy="49112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73D0C2-A535-42A9-BD21-9F3A21EB4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183" y="1266205"/>
            <a:ext cx="7789830" cy="43255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E614A9-6E98-43BE-9489-BB84F21F518D}"/>
              </a:ext>
            </a:extLst>
          </p:cNvPr>
          <p:cNvSpPr txBox="1"/>
          <p:nvPr/>
        </p:nvSpPr>
        <p:spPr>
          <a:xfrm>
            <a:off x="4535503" y="5774838"/>
            <a:ext cx="3429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 Of TDM block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A09175-3AC6-4EC4-BE00-9D4115F94229}"/>
              </a:ext>
            </a:extLst>
          </p:cNvPr>
          <p:cNvSpPr/>
          <p:nvPr/>
        </p:nvSpPr>
        <p:spPr>
          <a:xfrm>
            <a:off x="5286504" y="199627"/>
            <a:ext cx="1447060" cy="636180"/>
          </a:xfrm>
          <a:prstGeom prst="roundRect">
            <a:avLst/>
          </a:prstGeom>
          <a:solidFill>
            <a:srgbClr val="F93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38AA29-E88E-439B-A638-9AEC30A72DE7}"/>
              </a:ext>
            </a:extLst>
          </p:cNvPr>
          <p:cNvSpPr txBox="1"/>
          <p:nvPr/>
        </p:nvSpPr>
        <p:spPr>
          <a:xfrm>
            <a:off x="5533599" y="199627"/>
            <a:ext cx="1447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</a:rPr>
              <a:t>ADC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938597-9B41-4BFD-B9E8-8F79769FF10C}"/>
              </a:ext>
            </a:extLst>
          </p:cNvPr>
          <p:cNvSpPr txBox="1"/>
          <p:nvPr/>
        </p:nvSpPr>
        <p:spPr>
          <a:xfrm>
            <a:off x="149108" y="1744341"/>
            <a:ext cx="904671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ADC0804 IC is used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Sampling, Quantization and Encoding happened here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Voltage range 0-10v is used.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 Clock frequency 4k Hz.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Generate code word data stream  in DB0 </a:t>
            </a:r>
            <a:r>
              <a:rPr lang="en-US" b="1" dirty="0"/>
              <a:t>~ </a:t>
            </a: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DB7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Connected to parallel to serial converter block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9C148A-3CFD-4974-B470-CAFACCBFE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7783" y="2995614"/>
            <a:ext cx="3448678" cy="33829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E4DDBB9-B2E4-4B0D-BE5F-AE80ABF4766A}"/>
                  </a:ext>
                </a:extLst>
              </p:cNvPr>
              <p:cNvSpPr txBox="1"/>
              <p:nvPr/>
            </p:nvSpPr>
            <p:spPr>
              <a:xfrm>
                <a:off x="2717466" y="2564523"/>
                <a:ext cx="8090704" cy="1348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𝒖𝒕</m:t>
                          </m:r>
                        </m:sub>
                      </m:sSub>
                      <m:r>
                        <a:rPr lang="en-US" sz="4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4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𝒊𝒏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4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</m:den>
                      </m:f>
                      <m:r>
                        <a:rPr lang="en-US" sz="4000" b="1" i="1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𝟖</m:t>
                          </m:r>
                        </m:sup>
                      </m:sSup>
                    </m:oMath>
                  </m:oMathPara>
                </a14:m>
                <a:endParaRPr lang="en-US" sz="4000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E4DDBB9-B2E4-4B0D-BE5F-AE80ABF47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7466" y="2564523"/>
                <a:ext cx="8090704" cy="13484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F3C8AD5-1515-4AC8-9A83-B43819AF3D6B}"/>
              </a:ext>
            </a:extLst>
          </p:cNvPr>
          <p:cNvSpPr txBox="1"/>
          <p:nvPr/>
        </p:nvSpPr>
        <p:spPr>
          <a:xfrm>
            <a:off x="1107799" y="2853690"/>
            <a:ext cx="27663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Corresponding Decimal output for input signal formula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0AA5D59-2F60-4BC5-A089-FFBA16888C4E}"/>
              </a:ext>
            </a:extLst>
          </p:cNvPr>
          <p:cNvSpPr/>
          <p:nvPr/>
        </p:nvSpPr>
        <p:spPr>
          <a:xfrm>
            <a:off x="3631356" y="173711"/>
            <a:ext cx="4978891" cy="636180"/>
          </a:xfrm>
          <a:prstGeom prst="roundRect">
            <a:avLst/>
          </a:prstGeom>
          <a:solidFill>
            <a:srgbClr val="F93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30591C-6118-4E0B-BC2A-391454491749}"/>
              </a:ext>
            </a:extLst>
          </p:cNvPr>
          <p:cNvSpPr txBox="1"/>
          <p:nvPr/>
        </p:nvSpPr>
        <p:spPr>
          <a:xfrm>
            <a:off x="3878450" y="173711"/>
            <a:ext cx="49385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</a:rPr>
              <a:t>Parallel to Serial Converter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3F3D1C-D28A-44BE-8F5B-83A2989BC9F6}"/>
              </a:ext>
            </a:extLst>
          </p:cNvPr>
          <p:cNvSpPr txBox="1"/>
          <p:nvPr/>
        </p:nvSpPr>
        <p:spPr>
          <a:xfrm>
            <a:off x="579590" y="1717274"/>
            <a:ext cx="8655728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 </a:t>
            </a:r>
            <a:r>
              <a:rPr lang="en-US" sz="3600" dirty="0">
                <a:latin typeface="Ador Shodesh" panose="02000506000000020003" pitchFamily="2" charset="0"/>
                <a:cs typeface="Ador Shodesh" panose="02000506000000020003" pitchFamily="2" charset="0"/>
              </a:rPr>
              <a:t>74165 IC is used here, a Parallel to serial 8 bit shift register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 dirty="0">
                <a:latin typeface="Ador Shodesh" panose="02000506000000020003" pitchFamily="2" charset="0"/>
                <a:cs typeface="Ador Shodesh" panose="02000506000000020003" pitchFamily="2" charset="0"/>
              </a:rPr>
              <a:t> It  takes parallel input, deliver serial data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 dirty="0">
                <a:latin typeface="Ador Shodesh" panose="02000506000000020003" pitchFamily="2" charset="0"/>
                <a:cs typeface="Ador Shodesh" panose="02000506000000020003" pitchFamily="2" charset="0"/>
              </a:rPr>
              <a:t>32k Hz clock frequency is used</a:t>
            </a:r>
            <a:endParaRPr lang="en-US" sz="1600" dirty="0">
              <a:latin typeface="Ador Shodesh" panose="02000506000000020003" pitchFamily="2" charset="0"/>
              <a:cs typeface="Ador Shodesh" panose="02000506000000020003" pitchFamily="2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 dirty="0">
                <a:latin typeface="Ador Shodesh" panose="02000506000000020003" pitchFamily="2" charset="0"/>
                <a:cs typeface="Ador Shodesh" panose="02000506000000020003" pitchFamily="2" charset="0"/>
              </a:rPr>
              <a:t>Output of this block is used for transmission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75C619-B7EB-488A-BE4D-32391EDBE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318" y="1029810"/>
            <a:ext cx="2671114" cy="36993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F9F969-3304-4F25-867A-FB65D1CE3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450" y="957917"/>
            <a:ext cx="6562637" cy="49421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D4545D-1AD4-4CF8-BA11-C82F77E009A3}"/>
              </a:ext>
            </a:extLst>
          </p:cNvPr>
          <p:cNvSpPr txBox="1"/>
          <p:nvPr/>
        </p:nvSpPr>
        <p:spPr>
          <a:xfrm>
            <a:off x="3580660" y="5900083"/>
            <a:ext cx="5992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 of parallel to serial converter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5051545-4B42-4171-871D-35F548C967A5}"/>
              </a:ext>
            </a:extLst>
          </p:cNvPr>
          <p:cNvSpPr/>
          <p:nvPr/>
        </p:nvSpPr>
        <p:spPr>
          <a:xfrm>
            <a:off x="3483007" y="241230"/>
            <a:ext cx="4978891" cy="636180"/>
          </a:xfrm>
          <a:prstGeom prst="roundRect">
            <a:avLst/>
          </a:prstGeom>
          <a:solidFill>
            <a:srgbClr val="F93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5F202-D436-475C-98EF-36639C75A1B1}"/>
              </a:ext>
            </a:extLst>
          </p:cNvPr>
          <p:cNvSpPr txBox="1"/>
          <p:nvPr/>
        </p:nvSpPr>
        <p:spPr>
          <a:xfrm>
            <a:off x="3730102" y="241230"/>
            <a:ext cx="4731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</a:rPr>
              <a:t>Serial To Parallel Converter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565B8D-2838-4B82-A2E4-F3CA4D5DAC90}"/>
              </a:ext>
            </a:extLst>
          </p:cNvPr>
          <p:cNvSpPr txBox="1"/>
          <p:nvPr/>
        </p:nvSpPr>
        <p:spPr>
          <a:xfrm>
            <a:off x="516570" y="1752180"/>
            <a:ext cx="865572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 </a:t>
            </a:r>
            <a:r>
              <a:rPr lang="en-US" sz="3600" dirty="0">
                <a:latin typeface="Ador Shodesh" panose="02000506000000020003" pitchFamily="2" charset="0"/>
                <a:cs typeface="Ador Shodesh" panose="02000506000000020003" pitchFamily="2" charset="0"/>
              </a:rPr>
              <a:t>74HC595 IC is used for serial to parallel converter</a:t>
            </a:r>
            <a:endParaRPr lang="en-US" sz="4000" dirty="0">
              <a:latin typeface="Ador Shodesh" panose="02000506000000020003" pitchFamily="2" charset="0"/>
              <a:cs typeface="Ador Shodesh" panose="02000506000000020003" pitchFamily="2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>
                <a:latin typeface="Ador Shodesh" panose="02000506000000020003" pitchFamily="2" charset="0"/>
                <a:cs typeface="Ador Shodesh" panose="02000506000000020003" pitchFamily="2" charset="0"/>
              </a:rPr>
              <a:t> </a:t>
            </a:r>
            <a:r>
              <a:rPr lang="en-US" sz="3600" dirty="0">
                <a:latin typeface="Ador Shodesh" panose="02000506000000020003" pitchFamily="2" charset="0"/>
                <a:cs typeface="Ador Shodesh" panose="02000506000000020003" pitchFamily="2" charset="0"/>
              </a:rPr>
              <a:t>This</a:t>
            </a: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 block receives the data from the input</a:t>
            </a:r>
            <a:r>
              <a:rPr lang="en-US" sz="3600" dirty="0">
                <a:latin typeface="Ador Shodesh" panose="02000506000000020003" pitchFamily="2" charset="0"/>
                <a:cs typeface="Ador Shodesh" panose="02000506000000020003" pitchFamily="2" charset="0"/>
              </a:rPr>
              <a:t> </a:t>
            </a:r>
            <a:r>
              <a:rPr lang="en-US" sz="3600" b="1" dirty="0">
                <a:latin typeface="Ador Shodesh" panose="02000506000000020003" pitchFamily="2" charset="0"/>
                <a:cs typeface="Ador Shodesh" panose="02000506000000020003" pitchFamily="2" charset="0"/>
              </a:rPr>
              <a:t>DS</a:t>
            </a:r>
            <a:r>
              <a:rPr lang="en-US" sz="2800" b="1" dirty="0">
                <a:latin typeface="Ador Shodesh" panose="02000506000000020003" pitchFamily="2" charset="0"/>
                <a:cs typeface="Ador Shodesh" panose="02000506000000020003" pitchFamily="2" charset="0"/>
              </a:rPr>
              <a:t>. </a:t>
            </a:r>
            <a:endParaRPr lang="en-US" sz="5400" dirty="0">
              <a:latin typeface="Ador Shodesh" panose="02000506000000020003" pitchFamily="2" charset="0"/>
              <a:cs typeface="Ador Shodesh" panose="02000506000000020003" pitchFamily="2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 dirty="0">
                <a:latin typeface="Ador Shodesh" panose="02000506000000020003" pitchFamily="2" charset="0"/>
                <a:cs typeface="Ador Shodesh" panose="02000506000000020003" pitchFamily="2" charset="0"/>
              </a:rPr>
              <a:t>Convert Serial line code into parallel data by 8 bit frame</a:t>
            </a:r>
            <a:endParaRPr lang="en-US" sz="4000" dirty="0">
              <a:latin typeface="Ador Shodesh" panose="02000506000000020003" pitchFamily="2" charset="0"/>
              <a:cs typeface="Ador Shodesh" panose="02000506000000020003" pitchFamily="2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 </a:t>
            </a:r>
            <a:r>
              <a:rPr lang="en-US" sz="3600" dirty="0">
                <a:latin typeface="Ador Shodesh" panose="02000506000000020003" pitchFamily="2" charset="0"/>
                <a:cs typeface="Ador Shodesh" panose="02000506000000020003" pitchFamily="2" charset="0"/>
              </a:rPr>
              <a:t>Feeds parallel data bits through Decoder</a:t>
            </a:r>
            <a:endParaRPr lang="en-US" sz="4000" dirty="0">
              <a:latin typeface="Ador Shodesh" panose="02000506000000020003" pitchFamily="2" charset="0"/>
              <a:cs typeface="Ador Shodesh" panose="02000506000000020003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9FE07-AB80-4446-BEBF-C1EC99D64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260" y="1516622"/>
            <a:ext cx="3117356" cy="38247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684A30-6F28-4C63-9553-F2A5355E9670}"/>
              </a:ext>
            </a:extLst>
          </p:cNvPr>
          <p:cNvSpPr txBox="1"/>
          <p:nvPr/>
        </p:nvSpPr>
        <p:spPr>
          <a:xfrm>
            <a:off x="3364343" y="0"/>
            <a:ext cx="4731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</a:rPr>
              <a:t>Serial To Parallel Converter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B04D7F-F475-4988-920C-19280F91A100}"/>
              </a:ext>
            </a:extLst>
          </p:cNvPr>
          <p:cNvSpPr/>
          <p:nvPr/>
        </p:nvSpPr>
        <p:spPr>
          <a:xfrm>
            <a:off x="3269648" y="152400"/>
            <a:ext cx="4978891" cy="636180"/>
          </a:xfrm>
          <a:prstGeom prst="roundRect">
            <a:avLst/>
          </a:prstGeom>
          <a:solidFill>
            <a:srgbClr val="F93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98AC0-0D12-4728-96BE-C6872F74E3E5}"/>
              </a:ext>
            </a:extLst>
          </p:cNvPr>
          <p:cNvSpPr txBox="1"/>
          <p:nvPr/>
        </p:nvSpPr>
        <p:spPr>
          <a:xfrm>
            <a:off x="3516743" y="152400"/>
            <a:ext cx="4731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</a:rPr>
              <a:t>Decoder and Op Amp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6BD8D3-9DC4-49CD-8807-15BA0658DB70}"/>
              </a:ext>
            </a:extLst>
          </p:cNvPr>
          <p:cNvSpPr txBox="1"/>
          <p:nvPr/>
        </p:nvSpPr>
        <p:spPr>
          <a:xfrm>
            <a:off x="310720" y="1346800"/>
            <a:ext cx="865572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 DAC0808 decodes the data from each code word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 Generate specific analog output level according to incoming code word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 Output signal is inverted polarity and negatively biased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42846-4E0E-444F-B68F-AE8C2DF94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448" y="1460238"/>
            <a:ext cx="3105150" cy="29432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CF7C4B-9A1A-40C2-88B4-AC12A1456464}"/>
              </a:ext>
            </a:extLst>
          </p:cNvPr>
          <p:cNvSpPr txBox="1"/>
          <p:nvPr/>
        </p:nvSpPr>
        <p:spPr>
          <a:xfrm>
            <a:off x="436880" y="2139633"/>
            <a:ext cx="83921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 dirty="0">
                <a:latin typeface="Ador Shodesh" panose="02000506000000020003" pitchFamily="2" charset="0"/>
                <a:cs typeface="Ador Shodesh" panose="02000506000000020003" pitchFamily="2" charset="0"/>
              </a:rPr>
              <a:t>Op amp is used as current to voltage converter , working as transimpedance amplifier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 dirty="0">
                <a:latin typeface="Ador Shodesh" panose="02000506000000020003" pitchFamily="2" charset="0"/>
                <a:cs typeface="Ador Shodesh" panose="02000506000000020003" pitchFamily="2" charset="0"/>
              </a:rPr>
              <a:t> DAC changes the digital input into current , Op amp converts this current to voltage.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C1A51-C2EF-4187-B746-9856456CD2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09" r="2866"/>
          <a:stretch/>
        </p:blipFill>
        <p:spPr>
          <a:xfrm>
            <a:off x="8392159" y="2139633"/>
            <a:ext cx="3799841" cy="23047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4872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A3D8BE-612B-48B2-9DD5-C597DE9A4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61" y="493281"/>
            <a:ext cx="8479477" cy="52369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6A514B-0055-46EF-9357-45C111A6CA0B}"/>
              </a:ext>
            </a:extLst>
          </p:cNvPr>
          <p:cNvSpPr txBox="1"/>
          <p:nvPr/>
        </p:nvSpPr>
        <p:spPr>
          <a:xfrm>
            <a:off x="4285250" y="5730197"/>
            <a:ext cx="6542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Output Of decoder and Op Amp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81C188E-A952-4036-839C-CFF2B1F7DC24}"/>
              </a:ext>
            </a:extLst>
          </p:cNvPr>
          <p:cNvSpPr/>
          <p:nvPr/>
        </p:nvSpPr>
        <p:spPr>
          <a:xfrm>
            <a:off x="3391568" y="241230"/>
            <a:ext cx="4978891" cy="636180"/>
          </a:xfrm>
          <a:prstGeom prst="roundRect">
            <a:avLst/>
          </a:prstGeom>
          <a:solidFill>
            <a:srgbClr val="F93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1A1277-428F-4EC0-BD09-3907BE297F0A}"/>
              </a:ext>
            </a:extLst>
          </p:cNvPr>
          <p:cNvSpPr txBox="1"/>
          <p:nvPr/>
        </p:nvSpPr>
        <p:spPr>
          <a:xfrm>
            <a:off x="3391568" y="241230"/>
            <a:ext cx="49788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</a:rPr>
              <a:t>Time Division Demultiplexer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9F8E4-13DA-4F24-A7AD-F4F6F9AC2E09}"/>
              </a:ext>
            </a:extLst>
          </p:cNvPr>
          <p:cNvSpPr txBox="1"/>
          <p:nvPr/>
        </p:nvSpPr>
        <p:spPr>
          <a:xfrm>
            <a:off x="355108" y="1228397"/>
            <a:ext cx="865572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 CD4051 demultiplexer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 Complementary function of multiplexing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 Extracts 3 channel outputs from incoming decoded      signal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 Same shape output is obtained , but high frequency components are present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4000" dirty="0">
              <a:latin typeface="Ador Shodesh" panose="02000506000000020003" pitchFamily="2" charset="0"/>
              <a:cs typeface="Ador Shodesh" panose="02000506000000020003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E357C6-002C-4E05-B739-5B61BF568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536" y="1130805"/>
            <a:ext cx="1967144" cy="33605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CEFBA4C-06CF-4C57-AB74-0CCC05943AB7}"/>
              </a:ext>
            </a:extLst>
          </p:cNvPr>
          <p:cNvSpPr/>
          <p:nvPr/>
        </p:nvSpPr>
        <p:spPr>
          <a:xfrm>
            <a:off x="3243765" y="221189"/>
            <a:ext cx="5289945" cy="636180"/>
          </a:xfrm>
          <a:prstGeom prst="roundRect">
            <a:avLst/>
          </a:prstGeom>
          <a:solidFill>
            <a:srgbClr val="F93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3F76BB-B740-4166-A320-3E7F87543D0E}"/>
              </a:ext>
            </a:extLst>
          </p:cNvPr>
          <p:cNvSpPr txBox="1"/>
          <p:nvPr/>
        </p:nvSpPr>
        <p:spPr>
          <a:xfrm>
            <a:off x="3669893" y="234559"/>
            <a:ext cx="5056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</a:rPr>
              <a:t>Two stage low Pass Filter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AB4FFA-B99E-4663-9345-A9B7F695E428}"/>
              </a:ext>
            </a:extLst>
          </p:cNvPr>
          <p:cNvSpPr txBox="1"/>
          <p:nvPr/>
        </p:nvSpPr>
        <p:spPr>
          <a:xfrm>
            <a:off x="284087" y="1574689"/>
            <a:ext cx="844266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 Low pass filter is used to make the three output signals smooth</a:t>
            </a:r>
          </a:p>
          <a:p>
            <a:endParaRPr lang="en-US" sz="4000" dirty="0">
              <a:latin typeface="Ador Shodesh" panose="02000506000000020003" pitchFamily="2" charset="0"/>
              <a:cs typeface="Ador Shodesh" panose="02000506000000020003" pitchFamily="2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4000" dirty="0">
                <a:latin typeface="Ador Shodesh" panose="02000506000000020003" pitchFamily="2" charset="0"/>
                <a:cs typeface="Ador Shodesh" panose="02000506000000020003" pitchFamily="2" charset="0"/>
              </a:rPr>
              <a:t>Output is slightly attenuated compare to input signal. So, by amplifying we can solve this issue.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4000" dirty="0">
              <a:latin typeface="Ador Shodesh" panose="02000506000000020003" pitchFamily="2" charset="0"/>
              <a:cs typeface="Ador Shodesh" panose="02000506000000020003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AFF252-6046-4EFC-BD26-E4350472C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6498" y="1884886"/>
            <a:ext cx="3615502" cy="27581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CBB3A5-61D3-4124-AAFA-EFD04C7468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71" b="9291"/>
          <a:stretch/>
        </p:blipFill>
        <p:spPr>
          <a:xfrm>
            <a:off x="6426266" y="1391801"/>
            <a:ext cx="5552758" cy="43147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8A2ECA-C481-4795-9D3E-EB461A5A2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18" y="1391801"/>
            <a:ext cx="5776277" cy="439057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B8B47A-BD18-44DE-BFFF-B42D937FF3E7}"/>
              </a:ext>
            </a:extLst>
          </p:cNvPr>
          <p:cNvSpPr/>
          <p:nvPr/>
        </p:nvSpPr>
        <p:spPr>
          <a:xfrm>
            <a:off x="3224135" y="159950"/>
            <a:ext cx="6173865" cy="636180"/>
          </a:xfrm>
          <a:prstGeom prst="roundRect">
            <a:avLst/>
          </a:prstGeom>
          <a:solidFill>
            <a:srgbClr val="F93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4749A3-C691-4DDE-9F0C-74BA66EF4AC5}"/>
              </a:ext>
            </a:extLst>
          </p:cNvPr>
          <p:cNvSpPr txBox="1"/>
          <p:nvPr/>
        </p:nvSpPr>
        <p:spPr>
          <a:xfrm>
            <a:off x="3650263" y="173320"/>
            <a:ext cx="69669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</a:rPr>
              <a:t>Output and Input Comparison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CEACFAE-000F-48FE-AFEE-6162F11C50E1}"/>
              </a:ext>
            </a:extLst>
          </p:cNvPr>
          <p:cNvCxnSpPr/>
          <p:nvPr/>
        </p:nvCxnSpPr>
        <p:spPr>
          <a:xfrm>
            <a:off x="6700586" y="2231827"/>
            <a:ext cx="914400" cy="67056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4092F5A-A1F3-4E0C-B047-8A060C1A87F7}"/>
              </a:ext>
            </a:extLst>
          </p:cNvPr>
          <p:cNvCxnSpPr>
            <a:cxnSpLocks/>
          </p:cNvCxnSpPr>
          <p:nvPr/>
        </p:nvCxnSpPr>
        <p:spPr>
          <a:xfrm flipV="1">
            <a:off x="6913946" y="4033600"/>
            <a:ext cx="701040" cy="541734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8FBF9B1-A555-4134-A90D-E45384BB98FD}"/>
              </a:ext>
            </a:extLst>
          </p:cNvPr>
          <p:cNvCxnSpPr/>
          <p:nvPr/>
        </p:nvCxnSpPr>
        <p:spPr>
          <a:xfrm>
            <a:off x="2631056" y="1805107"/>
            <a:ext cx="914400" cy="67056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1EFE5D-04A4-43B7-8125-A9D828E85631}"/>
              </a:ext>
            </a:extLst>
          </p:cNvPr>
          <p:cNvCxnSpPr/>
          <p:nvPr/>
        </p:nvCxnSpPr>
        <p:spPr>
          <a:xfrm>
            <a:off x="1625851" y="2221667"/>
            <a:ext cx="914400" cy="67056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9F9DF31-BF60-4D7A-AD8E-FBDAC35A233E}"/>
              </a:ext>
            </a:extLst>
          </p:cNvPr>
          <p:cNvCxnSpPr>
            <a:cxnSpLocks/>
          </p:cNvCxnSpPr>
          <p:nvPr/>
        </p:nvCxnSpPr>
        <p:spPr>
          <a:xfrm flipV="1">
            <a:off x="1516155" y="4033600"/>
            <a:ext cx="688817" cy="108366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8AF8CA4-0BAB-454B-8F08-F216F11E814C}"/>
              </a:ext>
            </a:extLst>
          </p:cNvPr>
          <p:cNvCxnSpPr>
            <a:cxnSpLocks/>
          </p:cNvCxnSpPr>
          <p:nvPr/>
        </p:nvCxnSpPr>
        <p:spPr>
          <a:xfrm flipV="1">
            <a:off x="2989355" y="4575335"/>
            <a:ext cx="556101" cy="76545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D0DFB51-3751-46DF-9942-12D713D1BF31}"/>
              </a:ext>
            </a:extLst>
          </p:cNvPr>
          <p:cNvSpPr txBox="1"/>
          <p:nvPr/>
        </p:nvSpPr>
        <p:spPr>
          <a:xfrm>
            <a:off x="6507546" y="1862495"/>
            <a:ext cx="149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Input signal 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C65DD1-121B-435E-B532-E99E2B691450}"/>
              </a:ext>
            </a:extLst>
          </p:cNvPr>
          <p:cNvSpPr txBox="1"/>
          <p:nvPr/>
        </p:nvSpPr>
        <p:spPr>
          <a:xfrm>
            <a:off x="2697095" y="5192248"/>
            <a:ext cx="1816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output signal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6133DB-8A74-455D-A189-4254CFDFA371}"/>
              </a:ext>
            </a:extLst>
          </p:cNvPr>
          <p:cNvSpPr txBox="1"/>
          <p:nvPr/>
        </p:nvSpPr>
        <p:spPr>
          <a:xfrm>
            <a:off x="436496" y="5156121"/>
            <a:ext cx="173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input signal 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B4D218-CB3F-4A06-B35B-6906CA5210D1}"/>
              </a:ext>
            </a:extLst>
          </p:cNvPr>
          <p:cNvSpPr txBox="1"/>
          <p:nvPr/>
        </p:nvSpPr>
        <p:spPr>
          <a:xfrm>
            <a:off x="6411026" y="4617642"/>
            <a:ext cx="1732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Output  signal 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E5F380-9490-4261-A813-7A5A39614B6C}"/>
              </a:ext>
            </a:extLst>
          </p:cNvPr>
          <p:cNvSpPr txBox="1"/>
          <p:nvPr/>
        </p:nvSpPr>
        <p:spPr>
          <a:xfrm>
            <a:off x="804955" y="1919808"/>
            <a:ext cx="1629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Output signal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19F0D5-08EE-4D71-8AFE-78A20F566C3F}"/>
              </a:ext>
            </a:extLst>
          </p:cNvPr>
          <p:cNvSpPr txBox="1"/>
          <p:nvPr/>
        </p:nvSpPr>
        <p:spPr>
          <a:xfrm>
            <a:off x="1884296" y="1508522"/>
            <a:ext cx="149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Input signal 1</a:t>
            </a:r>
          </a:p>
        </p:txBody>
      </p:sp>
    </p:spTree>
    <p:extLst>
      <p:ext uri="{BB962C8B-B14F-4D97-AF65-F5344CB8AC3E}">
        <p14:creationId xmlns:p14="http://schemas.microsoft.com/office/powerpoint/2010/main" val="3201673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8C0CA3-7B98-44EC-8AB6-1DA3ABBABA49}"/>
              </a:ext>
            </a:extLst>
          </p:cNvPr>
          <p:cNvSpPr/>
          <p:nvPr/>
        </p:nvSpPr>
        <p:spPr>
          <a:xfrm>
            <a:off x="4865050" y="190430"/>
            <a:ext cx="2460310" cy="636180"/>
          </a:xfrm>
          <a:prstGeom prst="roundRect">
            <a:avLst/>
          </a:prstGeom>
          <a:solidFill>
            <a:srgbClr val="F93A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C18C11-D35F-4CE2-945F-065E6C86E04F}"/>
              </a:ext>
            </a:extLst>
          </p:cNvPr>
          <p:cNvSpPr txBox="1"/>
          <p:nvPr/>
        </p:nvSpPr>
        <p:spPr>
          <a:xfrm>
            <a:off x="4865050" y="203800"/>
            <a:ext cx="27574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</a:rPr>
              <a:t>Contributions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D7FE6E-3149-425D-9A07-057815416A48}"/>
              </a:ext>
            </a:extLst>
          </p:cNvPr>
          <p:cNvSpPr txBox="1"/>
          <p:nvPr/>
        </p:nvSpPr>
        <p:spPr>
          <a:xfrm>
            <a:off x="2367280" y="2448560"/>
            <a:ext cx="102717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1706149 </a:t>
            </a:r>
            <a:r>
              <a:rPr lang="en-US" sz="2800" dirty="0"/>
              <a:t>:  Decoding ,Demultiplexer , filtering, slide making</a:t>
            </a:r>
          </a:p>
          <a:p>
            <a:r>
              <a:rPr lang="en-US" sz="2800" b="1" dirty="0"/>
              <a:t>1706150 :  </a:t>
            </a:r>
            <a:r>
              <a:rPr lang="en-US" sz="2800" dirty="0"/>
              <a:t>parallel to serial and serial to parallel , decoding </a:t>
            </a:r>
          </a:p>
          <a:p>
            <a:r>
              <a:rPr lang="en-US" sz="2800" b="1" dirty="0"/>
              <a:t>1706152 </a:t>
            </a:r>
            <a:r>
              <a:rPr lang="en-US" sz="2800" dirty="0"/>
              <a:t>:  Idea and resource  management ,report</a:t>
            </a:r>
          </a:p>
          <a:p>
            <a:r>
              <a:rPr lang="en-US" sz="2800" b="1" dirty="0"/>
              <a:t>1706189</a:t>
            </a:r>
            <a:r>
              <a:rPr lang="en-US" sz="2800" dirty="0"/>
              <a:t>:  multiplexing and encoding, report, slide</a:t>
            </a:r>
          </a:p>
        </p:txBody>
      </p:sp>
    </p:spTree>
    <p:extLst>
      <p:ext uri="{BB962C8B-B14F-4D97-AF65-F5344CB8AC3E}">
        <p14:creationId xmlns:p14="http://schemas.microsoft.com/office/powerpoint/2010/main" val="1804790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Free Powerpoint Sample - Green Circuit Board">
            <a:extLst>
              <a:ext uri="{FF2B5EF4-FFF2-40B4-BE49-F238E27FC236}">
                <a16:creationId xmlns:a16="http://schemas.microsoft.com/office/drawing/2014/main" id="{98106DAA-5CC8-40C9-9C9A-ED9410AC9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27464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273AEEF-8B6F-4A08-BE35-8151F865E2CB}"/>
              </a:ext>
            </a:extLst>
          </p:cNvPr>
          <p:cNvSpPr/>
          <p:nvPr/>
        </p:nvSpPr>
        <p:spPr>
          <a:xfrm>
            <a:off x="6918665" y="-22195"/>
            <a:ext cx="5273335" cy="6880195"/>
          </a:xfrm>
          <a:custGeom>
            <a:avLst/>
            <a:gdLst>
              <a:gd name="connsiteX0" fmla="*/ 1713390 w 5273335"/>
              <a:gd name="connsiteY0" fmla="*/ 0 h 6880195"/>
              <a:gd name="connsiteX1" fmla="*/ 0 w 5273335"/>
              <a:gd name="connsiteY1" fmla="*/ 2441360 h 6880195"/>
              <a:gd name="connsiteX2" fmla="*/ 3089429 w 5273335"/>
              <a:gd name="connsiteY2" fmla="*/ 6880195 h 6880195"/>
              <a:gd name="connsiteX3" fmla="*/ 4350058 w 5273335"/>
              <a:gd name="connsiteY3" fmla="*/ 6871317 h 6880195"/>
              <a:gd name="connsiteX4" fmla="*/ 5273335 w 5273335"/>
              <a:gd name="connsiteY4" fmla="*/ 6871317 h 6880195"/>
              <a:gd name="connsiteX5" fmla="*/ 5273335 w 5273335"/>
              <a:gd name="connsiteY5" fmla="*/ 17756 h 6880195"/>
              <a:gd name="connsiteX6" fmla="*/ 1713390 w 5273335"/>
              <a:gd name="connsiteY6" fmla="*/ 0 h 6880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73335" h="6880195">
                <a:moveTo>
                  <a:pt x="1713390" y="0"/>
                </a:moveTo>
                <a:lnTo>
                  <a:pt x="0" y="2441360"/>
                </a:lnTo>
                <a:lnTo>
                  <a:pt x="3089429" y="6880195"/>
                </a:lnTo>
                <a:lnTo>
                  <a:pt x="4350058" y="6871317"/>
                </a:lnTo>
                <a:lnTo>
                  <a:pt x="5273335" y="6871317"/>
                </a:lnTo>
                <a:lnTo>
                  <a:pt x="5273335" y="17756"/>
                </a:lnTo>
                <a:lnTo>
                  <a:pt x="1713390" y="0"/>
                </a:lnTo>
                <a:close/>
              </a:path>
            </a:pathLst>
          </a:custGeom>
          <a:solidFill>
            <a:srgbClr val="19A1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34F55-6F5D-4B4E-876F-23AB8CC74DC2}"/>
              </a:ext>
            </a:extLst>
          </p:cNvPr>
          <p:cNvSpPr txBox="1"/>
          <p:nvPr/>
        </p:nvSpPr>
        <p:spPr>
          <a:xfrm>
            <a:off x="7368467" y="1491449"/>
            <a:ext cx="46874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Courgette" panose="02000603070400060004" pitchFamily="2" charset="0"/>
              </a:rPr>
              <a:t>Thank </a:t>
            </a:r>
          </a:p>
          <a:p>
            <a:pPr algn="ctr"/>
            <a:r>
              <a:rPr lang="en-US" sz="9600" dirty="0">
                <a:solidFill>
                  <a:schemeClr val="bg1"/>
                </a:solidFill>
                <a:latin typeface="Courgette" panose="02000603070400060004" pitchFamily="2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0770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</TotalTime>
  <Words>469</Words>
  <Application>Microsoft Office PowerPoint</Application>
  <PresentationFormat>Widescreen</PresentationFormat>
  <Paragraphs>89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맑은 고딕</vt:lpstr>
      <vt:lpstr>Ador Shodesh</vt:lpstr>
      <vt:lpstr>Agency FB</vt:lpstr>
      <vt:lpstr>Arial</vt:lpstr>
      <vt:lpstr>Bahnschrift Condensed</vt:lpstr>
      <vt:lpstr>Bahnschrift SemiBold SemiConden</vt:lpstr>
      <vt:lpstr>Calibri</vt:lpstr>
      <vt:lpstr>Calibri Light</vt:lpstr>
      <vt:lpstr>Cambria Math</vt:lpstr>
      <vt:lpstr>Courgette</vt:lpstr>
      <vt:lpstr>Wingdings</vt:lpstr>
      <vt:lpstr>Office Theme</vt:lpstr>
      <vt:lpstr>TDM - PCM  System (In Proteus)</vt:lpstr>
      <vt:lpstr>PowerPoint Presentation</vt:lpstr>
      <vt:lpstr>Main 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TDM and PCM in Proteus</dc:title>
  <dc:creator>1706149 - Sanath Kumar Das</dc:creator>
  <cp:lastModifiedBy>1706149 - Sanath Kumar Das</cp:lastModifiedBy>
  <cp:revision>43</cp:revision>
  <dcterms:created xsi:type="dcterms:W3CDTF">2021-07-18T09:35:01Z</dcterms:created>
  <dcterms:modified xsi:type="dcterms:W3CDTF">2021-07-25T06:05:39Z</dcterms:modified>
</cp:coreProperties>
</file>